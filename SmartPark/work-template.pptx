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6086475"/>
            <a:ext cx="109537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60864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6027" y="690562"/>
            <a:ext cx="3959944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EA580C"/>
                </a:solidFill>
                <a:latin typeface="Calibri"/>
              </a:rPr>
              <a:t>Programme:</a:t>
            </a:r>
            <a:r>
              <a:rPr b="0" sz="2400" i="0" u="none">
                <a:solidFill>
                  <a:srgbClr val="1E293B"/>
                </a:solidFill>
                <a:latin typeface="Calibri"/>
              </a:rPr>
              <a:t> IDEA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1690" y="1271587"/>
            <a:ext cx="448847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EA580C"/>
                </a:solidFill>
                <a:latin typeface="Calibri"/>
              </a:rPr>
              <a:t>COURSE CODE:</a:t>
            </a:r>
            <a:r>
              <a:rPr b="0" sz="2400" i="0" u="none">
                <a:solidFill>
                  <a:srgbClr val="1E293B"/>
                </a:solidFill>
                <a:latin typeface="Calibri"/>
              </a:rPr>
              <a:t> CSE301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6001" y="2005012"/>
            <a:ext cx="7219847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200" i="0" u="none">
                <a:solidFill>
                  <a:srgbClr val="0F172A"/>
                </a:solidFill>
                <a:latin typeface="Calibri"/>
              </a:rPr>
              <a:t>VEHICLE PARKING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6248400"/>
            <a:ext cx="278792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000" i="0" u="none">
                <a:solidFill>
                  <a:srgbClr val="64748B"/>
                </a:solidFill>
                <a:latin typeface="Calibri"/>
              </a:rPr>
              <a:t>14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240" y="6248400"/>
            <a:ext cx="17645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00" i="0" u="none">
                <a:solidFill>
                  <a:srgbClr val="64748B"/>
                </a:solidFill>
                <a:latin typeface="Calibri"/>
              </a:rPr>
              <a:t>Slide 1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EA580C"/>
                </a:solidFill>
                <a:latin typeface="Calibri"/>
              </a:rPr>
              <a:t>Team Members &amp; Roll Numbers: </a:t>
            </a:r>
            <a:r>
              <a:rPr sz="2100">
                <a:solidFill>
                  <a:srgbClr val="1E293B"/>
                </a:solidFill>
                <a:latin typeface="Calibri"/>
              </a:rPr>
              <a:t>Arnav Nawade (42), Aryan Jumde (34), Arinjay Sawai (3)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EA580C"/>
                </a:solidFill>
                <a:latin typeface="Calibri"/>
              </a:rPr>
              <a:t>Guide/Mentor Name: </a:t>
            </a:r>
            <a:r>
              <a:rPr sz="2100">
                <a:solidFill>
                  <a:srgbClr val="1E293B"/>
                </a:solidFill>
                <a:latin typeface="Calibri"/>
              </a:rPr>
              <a:t>Dr. Abhishek Sahu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EA580C"/>
                </a:solidFill>
                <a:latin typeface="Calibri"/>
              </a:rPr>
              <a:t>Department / School: </a:t>
            </a:r>
            <a:r>
              <a:rPr sz="2100">
                <a:solidFill>
                  <a:srgbClr val="1E293B"/>
                </a:solidFill>
                <a:latin typeface="Calibri"/>
              </a:rPr>
              <a:t>Computer Science and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32120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EA580C"/>
                </a:solidFill>
                <a:latin typeface="Calibri"/>
              </a:rPr>
              <a:t>Academic Year: </a:t>
            </a:r>
            <a:r>
              <a:rPr sz="2100">
                <a:solidFill>
                  <a:srgbClr val="1E293B"/>
                </a:solidFill>
                <a:latin typeface="Calibri"/>
              </a:rPr>
              <a:t>2026–2027</a:t>
            </a:r>
          </a:p>
        </p:txBody>
      </p:sp>
      <p:pic>
        <p:nvPicPr>
          <p:cNvPr id="13" name="Picture 12" descr="0c419755-3dc7-44f4-902c-960450b0c0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320040"/>
            <a:ext cx="1410028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9525"/>
            <a:ext cx="12172950" cy="1181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6086475"/>
            <a:ext cx="109537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" y="1162050"/>
            <a:ext cx="1217295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60864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466725"/>
            <a:ext cx="1157287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200" i="0" u="none">
                <a:solidFill>
                  <a:srgbClr val="0F172A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6248400"/>
            <a:ext cx="278792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000" i="0" u="none">
                <a:solidFill>
                  <a:srgbClr val="64748B"/>
                </a:solidFill>
                <a:latin typeface="Calibri"/>
              </a:rPr>
              <a:t>14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240" y="6248400"/>
            <a:ext cx="17645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00" i="0" u="none">
                <a:solidFill>
                  <a:srgbClr val="64748B"/>
                </a:solidFill>
                <a:latin typeface="Calibri"/>
              </a:rPr>
              <a:t>Slide 2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15906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15906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What problem are you addressing?:</a:t>
            </a:r>
            <a:r>
              <a:rPr sz="2100" b="0">
                <a:solidFill>
                  <a:srgbClr val="1E293B"/>
                </a:solidFill>
                <a:latin typeface="Calibri"/>
              </a:rPr>
              <a:t> Users lack a centralized, real-time view of available capacity across multiple parking zones.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6574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6574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Who is affected?:</a:t>
            </a:r>
            <a:r>
              <a:rPr sz="2100" b="0">
                <a:solidFill>
                  <a:srgbClr val="1E293B"/>
                </a:solidFill>
                <a:latin typeface="Calibri"/>
              </a:rPr>
              <a:t> Urban drivers entering saturated zones and facility administrators without reliable live capacity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7242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7242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Current challenges:</a:t>
            </a:r>
            <a:r>
              <a:rPr sz="2100" b="0">
                <a:solidFill>
                  <a:srgbClr val="1E293B"/>
                </a:solidFill>
                <a:latin typeface="Calibri"/>
              </a:rPr>
              <a:t> Static capacity limits, manual counting, and high costs of proprietary parking hardware.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7910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7910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Why is the problem important?:</a:t>
            </a:r>
            <a:r>
              <a:rPr sz="2100" b="0">
                <a:solidFill>
                  <a:srgbClr val="1E293B"/>
                </a:solidFill>
                <a:latin typeface="Calibri"/>
              </a:rPr>
              <a:t> Better visibility can reduce congestion, idle-engine emissions, and underuse of parking infrastructure.</a:t>
            </a:r>
          </a:p>
        </p:txBody>
      </p:sp>
      <p:pic>
        <p:nvPicPr>
          <p:cNvPr id="17" name="Picture 16" descr="0c419755-3dc7-44f4-902c-960450b0c0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64756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9525"/>
            <a:ext cx="12172950" cy="1181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6086475"/>
            <a:ext cx="109537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" y="1162050"/>
            <a:ext cx="1217295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60864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466725"/>
            <a:ext cx="1157287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200" i="0" u="none">
                <a:solidFill>
                  <a:srgbClr val="0F172A"/>
                </a:solidFill>
                <a:latin typeface="Calibri"/>
              </a:rPr>
              <a:t>EXISTING SOLUTION / 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6248400"/>
            <a:ext cx="278792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000" i="0" u="none">
                <a:solidFill>
                  <a:srgbClr val="64748B"/>
                </a:solidFill>
                <a:latin typeface="Calibri"/>
              </a:rPr>
              <a:t>14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240" y="6248400"/>
            <a:ext cx="17645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00" i="0" u="none">
                <a:solidFill>
                  <a:srgbClr val="64748B"/>
                </a:solidFill>
                <a:latin typeface="Calibri"/>
              </a:rPr>
              <a:t>Slide 3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15906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15906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Existing methods/products:</a:t>
            </a:r>
            <a:r>
              <a:rPr sz="2100" b="0">
                <a:solidFill>
                  <a:srgbClr val="1E293B"/>
                </a:solidFill>
                <a:latin typeface="Calibri"/>
              </a:rPr>
              <a:t> Wireless sensor networks, Raspberry Pi/IR sensor systems, and YOLO-based vision detection.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6574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6574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Limitations of existing solutions:</a:t>
            </a:r>
            <a:r>
              <a:rPr sz="2100" b="0">
                <a:solidFill>
                  <a:srgbClr val="1E293B"/>
                </a:solidFill>
                <a:latin typeface="Calibri"/>
              </a:rPr>
              <a:t> High hardware dependency, maintenance overhead, and computational/server requirements.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7242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7242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Comparison with proposed approach:</a:t>
            </a:r>
            <a:r>
              <a:rPr sz="2100" b="0">
                <a:solidFill>
                  <a:srgbClr val="1E293B"/>
                </a:solidFill>
                <a:latin typeface="Calibri"/>
              </a:rPr>
              <a:t> The proposed system uses software-first, configurable capacity logic independent of sensor hardware.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7910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7910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Research/market gap:</a:t>
            </a:r>
            <a:r>
              <a:rPr sz="2100" b="0">
                <a:solidFill>
                  <a:srgbClr val="1E293B"/>
                </a:solidFill>
                <a:latin typeface="Calibri"/>
              </a:rPr>
              <a:t> A hardware-agnostic management layer is needed for rapid and low-cost deployment.</a:t>
            </a:r>
          </a:p>
        </p:txBody>
      </p:sp>
      <p:pic>
        <p:nvPicPr>
          <p:cNvPr id="17" name="Picture 16" descr="0c419755-3dc7-44f4-902c-960450b0c0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64756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9525"/>
            <a:ext cx="12172950" cy="1181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6086475"/>
            <a:ext cx="109537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" y="1162050"/>
            <a:ext cx="1217295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60864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466725"/>
            <a:ext cx="1157287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200" i="0" u="none">
                <a:solidFill>
                  <a:srgbClr val="0F172A"/>
                </a:solidFill>
                <a:latin typeface="Calibri"/>
              </a:rP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6248400"/>
            <a:ext cx="278792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000" i="0" u="none">
                <a:solidFill>
                  <a:srgbClr val="64748B"/>
                </a:solidFill>
                <a:latin typeface="Calibri"/>
              </a:rPr>
              <a:t>14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240" y="6248400"/>
            <a:ext cx="17645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00" i="0" u="none">
                <a:solidFill>
                  <a:srgbClr val="64748B"/>
                </a:solidFill>
                <a:latin typeface="Calibri"/>
              </a:rPr>
              <a:t>Slide 4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15906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15906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Project idea:</a:t>
            </a:r>
            <a:r>
              <a:rPr sz="2100" b="0">
                <a:solidFill>
                  <a:srgbClr val="1E293B"/>
                </a:solidFill>
                <a:latin typeface="Calibri"/>
              </a:rPr>
              <a:t> A centralized web dashboard showing real-time capacity across multiple independent parking zones.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6574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6574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Proposed approach:</a:t>
            </a:r>
            <a:r>
              <a:rPr sz="2100" b="0">
                <a:solidFill>
                  <a:srgbClr val="1E293B"/>
                </a:solidFill>
                <a:latin typeface="Calibri"/>
              </a:rPr>
              <a:t> API-driven architecture that separates capacity calculation from physical sensor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7242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7242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Key innovation:</a:t>
            </a:r>
            <a:r>
              <a:rPr sz="2100" b="0">
                <a:solidFill>
                  <a:srgbClr val="1E293B"/>
                </a:solidFill>
                <a:latin typeface="Calibri"/>
              </a:rPr>
              <a:t> Administrators can change individual zone capacity thresholds instantly without downtime.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7910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7910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Expected outcome:</a:t>
            </a:r>
            <a:r>
              <a:rPr sz="2100" b="0">
                <a:solidFill>
                  <a:srgbClr val="1E293B"/>
                </a:solidFill>
                <a:latin typeface="Calibri"/>
              </a:rPr>
              <a:t> Precise FULL/AVAILABLE status with a zero-proprietary-hardware initial deployment.</a:t>
            </a:r>
          </a:p>
        </p:txBody>
      </p:sp>
      <p:pic>
        <p:nvPicPr>
          <p:cNvPr id="17" name="Picture 16" descr="0c419755-3dc7-44f4-902c-960450b0c0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64756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9525"/>
            <a:ext cx="12172950" cy="1181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6086475"/>
            <a:ext cx="109537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" y="1162050"/>
            <a:ext cx="1217295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60864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466725"/>
            <a:ext cx="1157287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200" i="0" u="none">
                <a:solidFill>
                  <a:srgbClr val="0F172A"/>
                </a:solidFill>
                <a:latin typeface="Calibri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6248400"/>
            <a:ext cx="278792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000" i="0" u="none">
                <a:solidFill>
                  <a:srgbClr val="64748B"/>
                </a:solidFill>
                <a:latin typeface="Calibri"/>
              </a:rPr>
              <a:t>14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240" y="6248400"/>
            <a:ext cx="17645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00" i="0" u="none">
                <a:solidFill>
                  <a:srgbClr val="64748B"/>
                </a:solidFill>
                <a:latin typeface="Calibri"/>
              </a:rPr>
              <a:t>Slide 5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15906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15906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Objective 1:</a:t>
            </a:r>
            <a:r>
              <a:rPr sz="2000" b="0">
                <a:solidFill>
                  <a:srgbClr val="1E293B"/>
                </a:solidFill>
                <a:latin typeface="Calibri"/>
              </a:rPr>
              <a:t> Track multi-zone occupancy metrics simultaneously through a centralized monitor.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6574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6574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Objective 2:</a:t>
            </a:r>
            <a:r>
              <a:rPr sz="2000" b="0">
                <a:solidFill>
                  <a:srgbClr val="1E293B"/>
                </a:solidFill>
                <a:latin typeface="Calibri"/>
              </a:rPr>
              <a:t> Allow administrators to modify individual zone capacity limits instantly.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7242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7242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Objective 3:</a:t>
            </a:r>
            <a:r>
              <a:rPr sz="2000" b="0">
                <a:solidFill>
                  <a:srgbClr val="1E293B"/>
                </a:solidFill>
                <a:latin typeface="Calibri"/>
              </a:rPr>
              <a:t> Prevent overflow using database-level mathematical validation.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7910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7910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Objective 4:</a:t>
            </a:r>
            <a:r>
              <a:rPr sz="2000" b="0">
                <a:solidFill>
                  <a:srgbClr val="1E293B"/>
                </a:solidFill>
                <a:latin typeface="Calibri"/>
              </a:rPr>
              <a:t> Provide a scalable RESTful base for future RFID, IoT, and other hardware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58578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576643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Expected measurable targets:</a:t>
            </a:r>
            <a:r>
              <a:rPr sz="2000" b="0">
                <a:solidFill>
                  <a:srgbClr val="1E293B"/>
                </a:solidFill>
                <a:latin typeface="Calibri"/>
              </a:rPr>
              <a:t> Sub-second state synchronization and 100% capacity boundary safety.</a:t>
            </a:r>
          </a:p>
        </p:txBody>
      </p:sp>
      <p:pic>
        <p:nvPicPr>
          <p:cNvPr id="19" name="Picture 18" descr="0c419755-3dc7-44f4-902c-960450b0c0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64756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9525"/>
            <a:ext cx="12172950" cy="1181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6086475"/>
            <a:ext cx="109537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" y="1162050"/>
            <a:ext cx="1217295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60864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466725"/>
            <a:ext cx="1157287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200" i="0" u="none">
                <a:solidFill>
                  <a:srgbClr val="0F172A"/>
                </a:solidFill>
                <a:latin typeface="Calibri"/>
              </a:rPr>
              <a:t>SYSTEM ARCHITECTURE /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6248400"/>
            <a:ext cx="278792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000" i="0" u="none">
                <a:solidFill>
                  <a:srgbClr val="64748B"/>
                </a:solidFill>
                <a:latin typeface="Calibri"/>
              </a:rPr>
              <a:t>14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240" y="6248400"/>
            <a:ext cx="17645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00" i="0" u="none">
                <a:solidFill>
                  <a:srgbClr val="64748B"/>
                </a:solidFill>
                <a:latin typeface="Calibri"/>
              </a:rPr>
              <a:t>Slide 6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15906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15906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Block diagram flow:</a:t>
            </a:r>
            <a:r>
              <a:rPr sz="2100" b="0">
                <a:solidFill>
                  <a:srgbClr val="1E293B"/>
                </a:solidFill>
                <a:latin typeface="Calibri"/>
              </a:rPr>
              <a:t> Admin Setup → Occupancy Ingestion → State Computation → Real-Time Broadcast.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6574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6574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Input → Processing → Output:</a:t>
            </a:r>
            <a:r>
              <a:rPr sz="2100" b="0">
                <a:solidFill>
                  <a:srgbClr val="1E293B"/>
                </a:solidFill>
                <a:latin typeface="Calibri"/>
              </a:rPr>
              <a:t> Manual/IoT triggers → Asynchronous differential logic → JSON/API dashboard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7242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7242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Core components:</a:t>
            </a:r>
            <a:r>
              <a:rPr sz="2100" b="0">
                <a:solidFill>
                  <a:srgbClr val="1E293B"/>
                </a:solidFill>
                <a:latin typeface="Calibri"/>
              </a:rPr>
              <a:t> React.js frontend, Python FastAPI backend, PostgreSQL database, SQLAlchemy ORM, and cloud hosting.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7910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7910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Workflow:</a:t>
            </a:r>
            <a:r>
              <a:rPr sz="2100" b="0">
                <a:solidFill>
                  <a:srgbClr val="1E293B"/>
                </a:solidFill>
                <a:latin typeface="Calibri"/>
              </a:rPr>
              <a:t> Configure maximum limits, record entry/exit events, recalculate occupancy, and broadcast updated capacity.</a:t>
            </a:r>
          </a:p>
        </p:txBody>
      </p:sp>
      <p:pic>
        <p:nvPicPr>
          <p:cNvPr id="17" name="Picture 16" descr="0c419755-3dc7-44f4-902c-960450b0c0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64756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9525"/>
            <a:ext cx="12172950" cy="1181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6086475"/>
            <a:ext cx="109537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" y="1162050"/>
            <a:ext cx="1217295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60864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466725"/>
            <a:ext cx="1157287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200" i="0" u="none">
                <a:solidFill>
                  <a:srgbClr val="0F172A"/>
                </a:solidFill>
                <a:latin typeface="Calibri"/>
              </a:rPr>
              <a:t>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6248400"/>
            <a:ext cx="278792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000" i="0" u="none">
                <a:solidFill>
                  <a:srgbClr val="64748B"/>
                </a:solidFill>
                <a:latin typeface="Calibri"/>
              </a:rPr>
              <a:t>14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240" y="6248400"/>
            <a:ext cx="17645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00" i="0" u="none">
                <a:solidFill>
                  <a:srgbClr val="64748B"/>
                </a:solidFill>
                <a:latin typeface="Calibri"/>
              </a:rPr>
              <a:t>Slide 7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15906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15906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Technologies used:</a:t>
            </a:r>
            <a:r>
              <a:rPr sz="2000" b="0">
                <a:solidFill>
                  <a:srgbClr val="1E293B"/>
                </a:solidFill>
                <a:latin typeface="Calibri"/>
              </a:rPr>
              <a:t> React.js + Tailwind CSS for frontend and Python 3.10 + FastAPI for backend.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6574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6574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Hardware components:</a:t>
            </a:r>
            <a:r>
              <a:rPr sz="2000" b="0">
                <a:solidFill>
                  <a:srgbClr val="1E293B"/>
                </a:solidFill>
                <a:latin typeface="Calibri"/>
              </a:rPr>
              <a:t> No proprietary sensors are required in Phase 1; deployment can use standard cloud infrastructure.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7242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7242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Software/tools:</a:t>
            </a:r>
            <a:r>
              <a:rPr sz="2000" b="0">
                <a:solidFill>
                  <a:srgbClr val="1E293B"/>
                </a:solidFill>
                <a:latin typeface="Calibri"/>
              </a:rPr>
              <a:t> PostgreSQL, SQLAlchemy ORM, Docker containerization, and Git version control.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7910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7910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Algorithm/model:</a:t>
            </a:r>
            <a:r>
              <a:rPr sz="2000" b="0">
                <a:solidFill>
                  <a:srgbClr val="1E293B"/>
                </a:solidFill>
                <a:latin typeface="Calibri"/>
              </a:rPr>
              <a:t> Available = Maximum Capacity − Occupied Vehicles, with underflow/overflow boundary guards.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58578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576643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Prototype development:</a:t>
            </a:r>
            <a:r>
              <a:rPr sz="2000" b="0">
                <a:solidFill>
                  <a:srgbClr val="1E293B"/>
                </a:solidFill>
                <a:latin typeface="Calibri"/>
              </a:rPr>
              <a:t> Structured 12-week plan covering architecture, backend logic, UI integration, validation, and demo.</a:t>
            </a:r>
          </a:p>
        </p:txBody>
      </p:sp>
      <p:pic>
        <p:nvPicPr>
          <p:cNvPr id="19" name="Picture 18" descr="0c419755-3dc7-44f4-902c-960450b0c0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64756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9525"/>
            <a:ext cx="12172950" cy="1181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6086475"/>
            <a:ext cx="109537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" y="1162050"/>
            <a:ext cx="1217295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60864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466725"/>
            <a:ext cx="1157287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200" i="0" u="none">
                <a:solidFill>
                  <a:srgbClr val="0F172A"/>
                </a:solidFill>
                <a:latin typeface="Calibri"/>
              </a:rPr>
              <a:t>RESULTS /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6248400"/>
            <a:ext cx="278792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000" i="0" u="none">
                <a:solidFill>
                  <a:srgbClr val="64748B"/>
                </a:solidFill>
                <a:latin typeface="Calibri"/>
              </a:rPr>
              <a:t>14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240" y="6248400"/>
            <a:ext cx="17645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00" i="0" u="none">
                <a:solidFill>
                  <a:srgbClr val="64748B"/>
                </a:solidFill>
                <a:latin typeface="Calibri"/>
              </a:rPr>
              <a:t>Slide 8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15906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15906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Admin Console:</a:t>
            </a:r>
            <a:r>
              <a:rPr sz="2100" b="0">
                <a:solidFill>
                  <a:srgbClr val="1E293B"/>
                </a:solidFill>
                <a:latin typeface="Calibri"/>
              </a:rPr>
              <a:t> Supports dynamic multi-zone capacity configuration and centralized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6574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6574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Boundary Protection:</a:t>
            </a:r>
            <a:r>
              <a:rPr sz="2100" b="0">
                <a:solidFill>
                  <a:srgbClr val="1E293B"/>
                </a:solidFill>
                <a:latin typeface="Calibri"/>
              </a:rPr>
              <a:t> Capacity logic prevents values from exceeding configured maximums or falling below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7242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7242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Public View:</a:t>
            </a:r>
            <a:r>
              <a:rPr sz="2100" b="0">
                <a:solidFill>
                  <a:srgbClr val="1E293B"/>
                </a:solidFill>
                <a:latin typeface="Calibri"/>
              </a:rPr>
              <a:t> Displays clear FULL/AVAILABLE indicators through a responsive interface.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7910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7910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100" b="1">
                <a:solidFill>
                  <a:srgbClr val="1E293B"/>
                </a:solidFill>
                <a:latin typeface="Calibri"/>
              </a:rPr>
              <a:t>System Synchronization:</a:t>
            </a:r>
            <a:r>
              <a:rPr sz="2100" b="0">
                <a:solidFill>
                  <a:srgbClr val="1E293B"/>
                </a:solidFill>
                <a:latin typeface="Calibri"/>
              </a:rPr>
              <a:t> Backend state updates are broadcast across connected dashboards with minimal delay.</a:t>
            </a:r>
          </a:p>
        </p:txBody>
      </p:sp>
      <p:pic>
        <p:nvPicPr>
          <p:cNvPr id="17" name="Picture 16" descr="0c419755-3dc7-44f4-902c-960450b0c0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64756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9525"/>
            <a:ext cx="12172950" cy="1647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6086475"/>
            <a:ext cx="109537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" y="1628775"/>
            <a:ext cx="1217295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60864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466725"/>
            <a:ext cx="11572875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200" i="0" u="none">
                <a:solidFill>
                  <a:srgbClr val="0F172A"/>
                </a:solidFill>
                <a:latin typeface="Calibri"/>
              </a:rPr>
              <a:t>INNOVATION, IMPACT, DELIVERABLES &amp;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6248400"/>
            <a:ext cx="278792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000" i="0" u="none">
                <a:solidFill>
                  <a:srgbClr val="64748B"/>
                </a:solidFill>
                <a:latin typeface="Calibri"/>
              </a:rPr>
              <a:t>14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240" y="6248400"/>
            <a:ext cx="17645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00" i="0" u="none">
                <a:solidFill>
                  <a:srgbClr val="64748B"/>
                </a:solidFill>
                <a:latin typeface="Calibri"/>
              </a:rPr>
              <a:t>Slide 9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2057400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2057400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Innovation &amp; Impact:</a:t>
            </a:r>
            <a:r>
              <a:rPr sz="2000" b="0">
                <a:solidFill>
                  <a:srgbClr val="1E293B"/>
                </a:solidFill>
                <a:latin typeface="Calibri"/>
              </a:rPr>
              <a:t> Hardware-agnostic core reduces initial deployment cost while improving parking visibility and utilization.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3124200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124200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Deliverables:</a:t>
            </a:r>
            <a:r>
              <a:rPr sz="2000" b="0">
                <a:solidFill>
                  <a:srgbClr val="1E293B"/>
                </a:solidFill>
                <a:latin typeface="Calibri"/>
              </a:rPr>
              <a:t> Web dashboard, REST API specification, relational database schema, and validated capacity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4191000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191000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Future Scope – Hardware:</a:t>
            </a:r>
            <a:r>
              <a:rPr sz="2000" b="0">
                <a:solidFill>
                  <a:srgbClr val="1E293B"/>
                </a:solidFill>
                <a:latin typeface="Calibri"/>
              </a:rPr>
              <a:t> YOLO/ANPR camera feeds and RFID-based boom-barrier/access-control integration.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5257800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5257800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Future Scope – Software:</a:t>
            </a:r>
            <a:r>
              <a:rPr sz="2000" b="0">
                <a:solidFill>
                  <a:srgbClr val="1E293B"/>
                </a:solidFill>
                <a:latin typeface="Calibri"/>
              </a:rPr>
              <a:t> Predictive ML models for peak-hour saturation forecasting.</a:t>
            </a:r>
          </a:p>
        </p:txBody>
      </p:sp>
      <p:pic>
        <p:nvPicPr>
          <p:cNvPr id="17" name="Picture 16" descr="0c419755-3dc7-44f4-902c-960450b0c0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64756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9525"/>
            <a:ext cx="12172950" cy="1181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6086475"/>
            <a:ext cx="109537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" y="1162050"/>
            <a:ext cx="1217295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60864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" y="466725"/>
            <a:ext cx="1157287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200" i="0" u="none">
                <a:solidFill>
                  <a:srgbClr val="0F172A"/>
                </a:solidFill>
                <a:latin typeface="Calibri"/>
              </a:rPr>
              <a:t>CONCLUSION &amp;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6248400"/>
            <a:ext cx="278792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000" i="0" u="none">
                <a:solidFill>
                  <a:srgbClr val="64748B"/>
                </a:solidFill>
                <a:latin typeface="Calibri"/>
              </a:rPr>
              <a:t>14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0002" y="6248400"/>
            <a:ext cx="194109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00" i="0" u="none">
                <a:solidFill>
                  <a:srgbClr val="64748B"/>
                </a:solidFill>
                <a:latin typeface="Calibri"/>
              </a:rPr>
              <a:t>Slide 10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15906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15906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Conclusion:</a:t>
            </a:r>
            <a:r>
              <a:rPr sz="2000" b="0">
                <a:solidFill>
                  <a:srgbClr val="1E293B"/>
                </a:solidFill>
                <a:latin typeface="Calibri"/>
              </a:rPr>
              <a:t> The system abstracts parking management into a software layer, providing real-time visibility and overflow protection.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6574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6574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Reference 1:</a:t>
            </a:r>
            <a:r>
              <a:rPr sz="2000" b="0">
                <a:solidFill>
                  <a:srgbClr val="1E293B"/>
                </a:solidFill>
                <a:latin typeface="Calibri"/>
              </a:rPr>
              <a:t> T. Lin, H. Rivano, “A Survey of Smart Parking Solutions,” IEEE Transactions, 2017.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7242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7242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Reference 2:</a:t>
            </a:r>
            <a:r>
              <a:rPr sz="2000" b="0">
                <a:solidFill>
                  <a:srgbClr val="1E293B"/>
                </a:solidFill>
                <a:latin typeface="Calibri"/>
              </a:rPr>
              <a:t> H. Wang, W. He, “A Reservation-based Smart Parking System,” Proc. IEEE INFOCOM, 2011.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791075"/>
            <a:ext cx="10477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400">
                <a:solidFill>
                  <a:srgbClr val="1E293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791075"/>
            <a:ext cx="10668000" cy="914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Reference 3:</a:t>
            </a:r>
            <a:r>
              <a:rPr sz="2000" b="0">
                <a:solidFill>
                  <a:srgbClr val="1E293B"/>
                </a:solidFill>
                <a:latin typeface="Calibri"/>
              </a:rPr>
              <a:t> W. A. Jabbar et al., “IoT enabled parking management system … for smart city,” IoT and Cyber-Physical Systems, 2024.</a:t>
            </a:r>
          </a:p>
        </p:txBody>
      </p:sp>
      <p:pic>
        <p:nvPicPr>
          <p:cNvPr id="17" name="Picture 16" descr="0c419755-3dc7-44f4-902c-960450b0c0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28600"/>
            <a:ext cx="647569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